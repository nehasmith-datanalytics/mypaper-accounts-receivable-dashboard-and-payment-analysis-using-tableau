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35D7-B8DE-4E34-8EE3-BB4B37F9C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BFD58-5556-4B6D-9D42-C9EE8E670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8FC43-D092-44AE-A06E-98BC038E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34C44-F8C9-40CD-BC35-4756019F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BF880-9165-4728-A19A-0F291CB2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2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310-7D84-494E-8120-FD2EAD7D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A478-D5A7-43DF-88AB-C02C91270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07491-70A3-46FE-8901-53BC773A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3F672-0922-4E52-8F1B-D6E8C370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B405-5169-4832-96F1-EF0330D7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3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A716-1B0A-4BFE-81B2-39C24CF2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708C8-F5C1-4EB5-8D20-B8F31B34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DF38E-56F0-407B-99DA-0502394C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D79F-53D6-4DFD-BA30-19B1AEFB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C8E5-ADD7-4564-8B3F-13453351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8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F9B8-0C8D-41E8-BB47-D54263EB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CB448-768D-4EFD-9388-178A65B1A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39C1E-91C9-470B-BF98-2423F4774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E66F1-FFAA-4DDE-BBC3-39FFB809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DF49B-7119-4A5A-ADAC-389123E3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B57C5-7F05-4D2D-8B08-C96C4FC1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4F2A-7CC9-4E6F-BBF4-86B424A5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E8D16-64EC-4B94-A356-3958FE28D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7CE09-6C92-41DC-AFC2-A1800D03F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FFC03-66F8-4D5D-95B3-70C771AC4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324AC-0821-48B4-B534-F6EAA74DA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60F47-7333-4913-8494-22710687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3FED0-3E9F-4472-9453-E8B9E4F1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C89B1-F22A-4731-AA8E-0C1650EB3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7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E4EE-23DA-4D8C-BBD3-92F28B9D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9241E-55DF-42FF-9287-78556675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8F18D-BFE0-45A2-9DB6-B3C5DA10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88E5E-B60F-4DDF-A076-9DAACF2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6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F99EF-40BA-4E63-B067-98040434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2E07A-0C87-4511-BF4F-92619DF9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E89A8-7D1E-436B-8692-0A48C289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8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ADE3-BED6-4EE8-93B8-2DCEEC82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C3662-BEB7-43B2-8B80-957D719AA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75866-1FA0-40A7-81EF-29778753E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348C0-1227-4F33-9638-4514B333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DA78C-412C-4CB1-8087-E674ABAA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A094-6594-422B-97B2-B6E242FA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1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4506-E830-46B1-96BD-D7FD3858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7FA85-8AFB-4E4A-9E8D-B2C4A2977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8A35F-6E56-486A-8EF6-35BA5338D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B0F6B-69E5-4614-ADA2-6D484795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2DB97-EDEE-4C3C-A512-62715660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5AE81-1AC2-45A5-90AC-7688E0EB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4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3E1E-C6F6-4F63-AB87-C2771E97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3F6D9-C712-4685-936D-D05951B61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9AF30-7703-44AF-8E07-44DF5EE9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52C97-4C8A-4937-8227-583B2A25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E718-75F5-45A9-9816-6D765CBA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D0E62-20ED-45CB-A946-9020FA6F6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4C45E-0B11-48E6-926A-319006D0C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4AC32-13EE-4A9D-A7AA-152DEF90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1E46D-9175-489C-90D7-ADF2ABE5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8076-6AF5-4664-909C-7823925E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3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431DD-1EA8-4ED7-89E2-CECBEA046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DD117-BD19-45F4-8D56-34F5A9A00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87F61-ABC6-468F-8E45-F1EBEECD6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A6583-4EAF-4741-B1F8-904B7E59AE2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5074-2DC8-4930-9A34-0535D68E7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3BCA2-33F0-4B53-B6B8-2F9D445D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9355-0B88-44C0-877F-D406D62FB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0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5220A-10DA-4CD8-B6DA-AF6D612D2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34" y="1613453"/>
            <a:ext cx="3419058" cy="3419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35475-8DC4-49B3-AEB5-58A9538CC780}"/>
              </a:ext>
            </a:extLst>
          </p:cNvPr>
          <p:cNvSpPr txBox="1"/>
          <p:nvPr/>
        </p:nvSpPr>
        <p:spPr>
          <a:xfrm>
            <a:off x="6931765" y="3615369"/>
            <a:ext cx="375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MyPaper Customer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2D673-5537-4F10-B148-7D8E68F79818}"/>
              </a:ext>
            </a:extLst>
          </p:cNvPr>
          <p:cNvSpPr/>
          <p:nvPr/>
        </p:nvSpPr>
        <p:spPr>
          <a:xfrm>
            <a:off x="6223623" y="3030594"/>
            <a:ext cx="51708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/>
              <a:t>MyPaper Tableau Dashboard </a:t>
            </a:r>
          </a:p>
        </p:txBody>
      </p:sp>
    </p:spTree>
    <p:extLst>
      <p:ext uri="{BB962C8B-B14F-4D97-AF65-F5344CB8AC3E}">
        <p14:creationId xmlns:p14="http://schemas.microsoft.com/office/powerpoint/2010/main" val="53862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290020-0463-4377-9BBD-B9D5F2F1D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5" y="1246992"/>
            <a:ext cx="10917174" cy="5611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43AFC1-1766-4E9A-9FF6-5125D09EA6F0}"/>
              </a:ext>
            </a:extLst>
          </p:cNvPr>
          <p:cNvSpPr txBox="1"/>
          <p:nvPr/>
        </p:nvSpPr>
        <p:spPr>
          <a:xfrm>
            <a:off x="516835" y="225287"/>
            <a:ext cx="9770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Payments remain relatively </a:t>
            </a:r>
            <a:r>
              <a:rPr lang="en-US" b="1" dirty="0"/>
              <a:t>stable between $5K and $7K per month</a:t>
            </a:r>
            <a:r>
              <a:rPr lang="en-US" dirty="0"/>
              <a:t>. Some months show </a:t>
            </a:r>
            <a:r>
              <a:rPr lang="en-US" b="1" dirty="0"/>
              <a:t>higher peaks</a:t>
            </a:r>
          </a:p>
          <a:p>
            <a:r>
              <a:rPr lang="en-US" b="1" dirty="0"/>
              <a:t> (~$7.6K)</a:t>
            </a:r>
            <a:r>
              <a:rPr lang="en-US" dirty="0"/>
              <a:t> indicating strong payment collections. A drop near the end of the timeline suggests </a:t>
            </a:r>
          </a:p>
          <a:p>
            <a:r>
              <a:rPr lang="en-US" b="1" dirty="0"/>
              <a:t>fewer invoices settled during that month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383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F3B394-ADC4-470D-9D8A-8CA9E0E77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266045"/>
            <a:ext cx="10907647" cy="5591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428D9B-4D83-4920-AC6A-9FA356A002C5}"/>
              </a:ext>
            </a:extLst>
          </p:cNvPr>
          <p:cNvSpPr txBox="1"/>
          <p:nvPr/>
        </p:nvSpPr>
        <p:spPr>
          <a:xfrm>
            <a:off x="821635" y="410817"/>
            <a:ext cx="1057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Identifying the proportion of invoices with disputes and evaluate customer satisfaction and billing accuracy we </a:t>
            </a:r>
          </a:p>
          <a:p>
            <a:r>
              <a:rPr lang="en-US" dirty="0"/>
              <a:t>found out that most transactions are processed smoothly, billing errors or disagreements are relatively low.</a:t>
            </a:r>
          </a:p>
        </p:txBody>
      </p:sp>
    </p:spTree>
    <p:extLst>
      <p:ext uri="{BB962C8B-B14F-4D97-AF65-F5344CB8AC3E}">
        <p14:creationId xmlns:p14="http://schemas.microsoft.com/office/powerpoint/2010/main" val="391494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107BD9-187F-4E91-883F-4B2EF38A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237466"/>
            <a:ext cx="10907647" cy="56205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029A1B-6994-4129-84DA-4052437E34B2}"/>
              </a:ext>
            </a:extLst>
          </p:cNvPr>
          <p:cNvSpPr txBox="1"/>
          <p:nvPr/>
        </p:nvSpPr>
        <p:spPr>
          <a:xfrm>
            <a:off x="498537" y="251791"/>
            <a:ext cx="11194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invoices are settled </a:t>
            </a:r>
            <a:r>
              <a:rPr lang="en-US" b="1" dirty="0"/>
              <a:t>before their due dates</a:t>
            </a:r>
            <a:r>
              <a:rPr lang="en-US" dirty="0"/>
              <a:t>, resulting in negative overdue days. Certain invoices are marked </a:t>
            </a:r>
          </a:p>
          <a:p>
            <a:r>
              <a:rPr lang="en-US" dirty="0"/>
              <a:t>as </a:t>
            </a:r>
            <a:r>
              <a:rPr lang="en-US" b="1" dirty="0"/>
              <a:t>disputed</a:t>
            </a:r>
            <a:r>
              <a:rPr lang="en-US" dirty="0"/>
              <a:t>, indicating issues requiring resolution. Both </a:t>
            </a:r>
            <a:r>
              <a:rPr lang="en-US" b="1" dirty="0"/>
              <a:t>Standard and Premium customers</a:t>
            </a:r>
            <a:r>
              <a:rPr lang="en-US" dirty="0"/>
              <a:t> are present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90625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029A1B-6994-4129-84DA-4052437E34B2}"/>
              </a:ext>
            </a:extLst>
          </p:cNvPr>
          <p:cNvSpPr txBox="1"/>
          <p:nvPr/>
        </p:nvSpPr>
        <p:spPr>
          <a:xfrm>
            <a:off x="498537" y="251791"/>
            <a:ext cx="1135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Filters used in Dashboard</a:t>
            </a:r>
            <a:r>
              <a:rPr lang="en-US" dirty="0"/>
              <a:t>: Analyze payment behavior for specific customers. Identify customers with </a:t>
            </a:r>
            <a:r>
              <a:rPr lang="en-US" b="1" dirty="0"/>
              <a:t>frequent disputes </a:t>
            </a:r>
          </a:p>
          <a:p>
            <a:r>
              <a:rPr lang="en-US" b="1" dirty="0"/>
              <a:t>or late payments. </a:t>
            </a:r>
            <a:r>
              <a:rPr lang="en-US" dirty="0"/>
              <a:t>Perform </a:t>
            </a:r>
            <a:r>
              <a:rPr lang="en-US" b="1" dirty="0"/>
              <a:t>customer-level financial analysis.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B1C91-2A38-4486-87E0-96768B2E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7" y="1144265"/>
            <a:ext cx="9859620" cy="574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3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FABBF-51BA-4E5D-8B30-E5AC72209F76}"/>
              </a:ext>
            </a:extLst>
          </p:cNvPr>
          <p:cNvSpPr txBox="1"/>
          <p:nvPr/>
        </p:nvSpPr>
        <p:spPr>
          <a:xfrm>
            <a:off x="443529" y="566678"/>
            <a:ext cx="11304942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Outcomes of the Analysis :</a:t>
            </a:r>
          </a:p>
          <a:p>
            <a:r>
              <a:rPr lang="en-US" dirty="0"/>
              <a:t>From this dashboard analysis, several conclusions can be drawn:</a:t>
            </a:r>
          </a:p>
          <a:p>
            <a:endParaRPr lang="en-US" dirty="0"/>
          </a:p>
          <a:p>
            <a:r>
              <a:rPr lang="en-US" b="1" dirty="0"/>
              <a:t>1. Strong Payment Performance</a:t>
            </a:r>
          </a:p>
          <a:p>
            <a:r>
              <a:rPr lang="en-US" dirty="0"/>
              <a:t>The </a:t>
            </a:r>
            <a:r>
              <a:rPr lang="en-US" b="1" dirty="0"/>
              <a:t>average days overdue is negative</a:t>
            </a:r>
            <a:r>
              <a:rPr lang="en-US" dirty="0"/>
              <a:t>, indicating customers generally </a:t>
            </a:r>
            <a:r>
              <a:rPr lang="en-US" b="1" dirty="0"/>
              <a:t>pay earlier than the due date</a:t>
            </a:r>
            <a:r>
              <a:rPr lang="en-US" dirty="0"/>
              <a:t>, which improves cash flow.</a:t>
            </a:r>
          </a:p>
          <a:p>
            <a:endParaRPr lang="en-US" dirty="0"/>
          </a:p>
          <a:p>
            <a:r>
              <a:rPr lang="en-US" b="1" dirty="0"/>
              <a:t>2. Stable Monthly Revenue Collection</a:t>
            </a:r>
          </a:p>
          <a:p>
            <a:r>
              <a:rPr lang="en-US" dirty="0"/>
              <a:t>The </a:t>
            </a:r>
            <a:r>
              <a:rPr lang="en-US" b="1" dirty="0"/>
              <a:t>monthly payment trend remains consistent</a:t>
            </a:r>
            <a:r>
              <a:rPr lang="en-US" dirty="0"/>
              <a:t>, suggesting </a:t>
            </a:r>
            <a:r>
              <a:rPr lang="en-US" b="1" dirty="0"/>
              <a:t>predictable revenue inflow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3. Low Dispute Rate</a:t>
            </a:r>
          </a:p>
          <a:p>
            <a:r>
              <a:rPr lang="en-US" dirty="0"/>
              <a:t>Only a </a:t>
            </a:r>
            <a:r>
              <a:rPr lang="en-US" b="1" dirty="0"/>
              <a:t>small percentage of invoices are disputed</a:t>
            </a:r>
            <a:r>
              <a:rPr lang="en-US" dirty="0"/>
              <a:t>, meaning most transactions are processed successfully.</a:t>
            </a:r>
          </a:p>
          <a:p>
            <a:endParaRPr lang="en-US" dirty="0"/>
          </a:p>
          <a:p>
            <a:r>
              <a:rPr lang="en-US" b="1" dirty="0"/>
              <a:t>4. Effective Receivable Management</a:t>
            </a:r>
          </a:p>
          <a:p>
            <a:r>
              <a:rPr lang="en-US" dirty="0"/>
              <a:t>The company appears to have </a:t>
            </a:r>
            <a:r>
              <a:rPr lang="en-US" b="1" dirty="0"/>
              <a:t>effective billing processes and customer payment management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5. Opportunities for Improvement</a:t>
            </a:r>
          </a:p>
          <a:p>
            <a:r>
              <a:rPr lang="en-US" dirty="0"/>
              <a:t>Although disputes are relatively low, reducing them further could improve </a:t>
            </a:r>
            <a:r>
              <a:rPr lang="en-US" b="1" dirty="0"/>
              <a:t>customer satisfaction and operational efficiency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431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267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</cp:revision>
  <dcterms:created xsi:type="dcterms:W3CDTF">2026-03-13T09:17:25Z</dcterms:created>
  <dcterms:modified xsi:type="dcterms:W3CDTF">2026-03-13T09:39:24Z</dcterms:modified>
</cp:coreProperties>
</file>